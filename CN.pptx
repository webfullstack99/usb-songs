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307" r:id="rId2"/>
    <p:sldId id="308" r:id="rId3"/>
    <p:sldId id="382" r:id="rId4"/>
    <p:sldId id="383" r:id="rId5"/>
    <p:sldId id="384" r:id="rId6"/>
    <p:sldId id="385" r:id="rId7"/>
    <p:sldId id="386" r:id="rId8"/>
    <p:sldId id="387"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4809" r:id="rId22"/>
    <p:sldId id="4810" r:id="rId23"/>
    <p:sldId id="4811" r:id="rId24"/>
    <p:sldId id="4812" r:id="rId25"/>
    <p:sldId id="4813" r:id="rId26"/>
    <p:sldId id="4814" r:id="rId27"/>
    <p:sldId id="4815" r:id="rId28"/>
    <p:sldId id="5163" r:id="rId29"/>
    <p:sldId id="5183" r:id="rId30"/>
    <p:sldId id="5184" r:id="rId31"/>
    <p:sldId id="5185" r:id="rId32"/>
    <p:sldId id="5186" r:id="rId33"/>
    <p:sldId id="5187" r:id="rId34"/>
    <p:sldId id="5188" r:id="rId35"/>
    <p:sldId id="5189" r:id="rId36"/>
    <p:sldId id="5190" r:id="rId37"/>
    <p:sldId id="4954" r:id="rId38"/>
    <p:sldId id="1990" r:id="rId39"/>
    <p:sldId id="5174" r:id="rId40"/>
    <p:sldId id="5177" r:id="rId41"/>
    <p:sldId id="5175" r:id="rId42"/>
    <p:sldId id="5178" r:id="rId43"/>
    <p:sldId id="5176" r:id="rId44"/>
    <p:sldId id="5179" r:id="rId45"/>
    <p:sldId id="5016" r:id="rId46"/>
    <p:sldId id="5017" r:id="rId47"/>
    <p:sldId id="3877" r:id="rId48"/>
    <p:sldId id="3878" r:id="rId49"/>
    <p:sldId id="4106" r:id="rId50"/>
    <p:sldId id="4294" r:id="rId51"/>
    <p:sldId id="4295" r:id="rId52"/>
    <p:sldId id="4296" r:id="rId53"/>
    <p:sldId id="4297" r:id="rId54"/>
    <p:sldId id="5180" r:id="rId55"/>
    <p:sldId id="4298" r:id="rId56"/>
    <p:sldId id="4299" r:id="rId57"/>
    <p:sldId id="5181" r:id="rId58"/>
    <p:sldId id="4300" r:id="rId59"/>
    <p:sldId id="4301" r:id="rId60"/>
    <p:sldId id="5182" r:id="rId61"/>
    <p:sldId id="3435" r:id="rId62"/>
    <p:sldId id="3436" r:id="rId6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p:scale>
          <a:sx n="50" d="100"/>
          <a:sy n="50" d="100"/>
        </p:scale>
        <p:origin x="2650" y="845"/>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07/03/2021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16</a:t>
            </a:fld>
            <a:endParaRPr lang="en-US"/>
          </a:p>
        </p:txBody>
      </p:sp>
    </p:spTree>
    <p:extLst>
      <p:ext uri="{BB962C8B-B14F-4D97-AF65-F5344CB8AC3E}">
        <p14:creationId xmlns:p14="http://schemas.microsoft.com/office/powerpoint/2010/main" val="6542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328818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7739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34</a:t>
            </a:fld>
            <a:endParaRPr lang="en-US"/>
          </a:p>
        </p:txBody>
      </p:sp>
    </p:spTree>
    <p:extLst>
      <p:ext uri="{BB962C8B-B14F-4D97-AF65-F5344CB8AC3E}">
        <p14:creationId xmlns:p14="http://schemas.microsoft.com/office/powerpoint/2010/main" val="1611539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50</a:t>
            </a:fld>
            <a:endParaRPr lang="en-US"/>
          </a:p>
        </p:txBody>
      </p:sp>
    </p:spTree>
    <p:extLst>
      <p:ext uri="{BB962C8B-B14F-4D97-AF65-F5344CB8AC3E}">
        <p14:creationId xmlns:p14="http://schemas.microsoft.com/office/powerpoint/2010/main" val="1880247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51</a:t>
            </a:fld>
            <a:endParaRPr lang="en-US"/>
          </a:p>
        </p:txBody>
      </p:sp>
    </p:spTree>
    <p:extLst>
      <p:ext uri="{BB962C8B-B14F-4D97-AF65-F5344CB8AC3E}">
        <p14:creationId xmlns:p14="http://schemas.microsoft.com/office/powerpoint/2010/main" val="2729880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52</a:t>
            </a:fld>
            <a:endParaRPr lang="en-US"/>
          </a:p>
        </p:txBody>
      </p:sp>
    </p:spTree>
    <p:extLst>
      <p:ext uri="{BB962C8B-B14F-4D97-AF65-F5344CB8AC3E}">
        <p14:creationId xmlns:p14="http://schemas.microsoft.com/office/powerpoint/2010/main" val="3672287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53</a:t>
            </a:fld>
            <a:endParaRPr lang="en-US"/>
          </a:p>
        </p:txBody>
      </p:sp>
    </p:spTree>
    <p:extLst>
      <p:ext uri="{BB962C8B-B14F-4D97-AF65-F5344CB8AC3E}">
        <p14:creationId xmlns:p14="http://schemas.microsoft.com/office/powerpoint/2010/main" val="360801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54</a:t>
            </a:fld>
            <a:endParaRPr lang="en-US"/>
          </a:p>
        </p:txBody>
      </p:sp>
    </p:spTree>
    <p:extLst>
      <p:ext uri="{BB962C8B-B14F-4D97-AF65-F5344CB8AC3E}">
        <p14:creationId xmlns:p14="http://schemas.microsoft.com/office/powerpoint/2010/main" val="3404375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55</a:t>
            </a:fld>
            <a:endParaRPr lang="en-US"/>
          </a:p>
        </p:txBody>
      </p:sp>
    </p:spTree>
    <p:extLst>
      <p:ext uri="{BB962C8B-B14F-4D97-AF65-F5344CB8AC3E}">
        <p14:creationId xmlns:p14="http://schemas.microsoft.com/office/powerpoint/2010/main" val="517354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56</a:t>
            </a:fld>
            <a:endParaRPr lang="en-US"/>
          </a:p>
        </p:txBody>
      </p:sp>
    </p:spTree>
    <p:extLst>
      <p:ext uri="{BB962C8B-B14F-4D97-AF65-F5344CB8AC3E}">
        <p14:creationId xmlns:p14="http://schemas.microsoft.com/office/powerpoint/2010/main" val="839954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57</a:t>
            </a:fld>
            <a:endParaRPr lang="en-US"/>
          </a:p>
        </p:txBody>
      </p:sp>
    </p:spTree>
    <p:extLst>
      <p:ext uri="{BB962C8B-B14F-4D97-AF65-F5344CB8AC3E}">
        <p14:creationId xmlns:p14="http://schemas.microsoft.com/office/powerpoint/2010/main" val="2489776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58</a:t>
            </a:fld>
            <a:endParaRPr lang="en-US"/>
          </a:p>
        </p:txBody>
      </p:sp>
    </p:spTree>
    <p:extLst>
      <p:ext uri="{BB962C8B-B14F-4D97-AF65-F5344CB8AC3E}">
        <p14:creationId xmlns:p14="http://schemas.microsoft.com/office/powerpoint/2010/main" val="3190458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59</a:t>
            </a:fld>
            <a:endParaRPr lang="en-US"/>
          </a:p>
        </p:txBody>
      </p:sp>
    </p:spTree>
    <p:extLst>
      <p:ext uri="{BB962C8B-B14F-4D97-AF65-F5344CB8AC3E}">
        <p14:creationId xmlns:p14="http://schemas.microsoft.com/office/powerpoint/2010/main" val="2114313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60</a:t>
            </a:fld>
            <a:endParaRPr lang="en-US"/>
          </a:p>
        </p:txBody>
      </p:sp>
    </p:spTree>
    <p:extLst>
      <p:ext uri="{BB962C8B-B14F-4D97-AF65-F5344CB8AC3E}">
        <p14:creationId xmlns:p14="http://schemas.microsoft.com/office/powerpoint/2010/main" val="3854334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07/03/2021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07/03/2021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4400" b="1" i="1" dirty="0">
                <a:solidFill>
                  <a:srgbClr val="FF0000"/>
                </a:solidFill>
                <a:latin typeface="Times New Roman" pitchFamily="18" charset="0"/>
                <a:cs typeface="Times New Roman" pitchFamily="18" charset="0"/>
              </a:rPr>
              <a:t>1. </a:t>
            </a:r>
            <a:r>
              <a:rPr lang="en-US" sz="4400" b="1" i="1" dirty="0" err="1">
                <a:solidFill>
                  <a:srgbClr val="FF0000"/>
                </a:solidFill>
                <a:latin typeface="Times New Roman" pitchFamily="18" charset="0"/>
                <a:cs typeface="Times New Roman" pitchFamily="18" charset="0"/>
              </a:rPr>
              <a:t>Kinh</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Ngày</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Chúa</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Nhật</a:t>
            </a:r>
            <a:endParaRPr lang="en-US" sz="4400" b="1" i="1" dirty="0">
              <a:solidFill>
                <a:srgbClr val="FF0000"/>
              </a:solidFill>
              <a:latin typeface="Times New Roman" pitchFamily="18" charset="0"/>
              <a:cs typeface="Times New Roman" pitchFamily="18" charset="0"/>
            </a:endParaRPr>
          </a:p>
          <a:p>
            <a:pPr algn="just"/>
            <a:r>
              <a:rPr lang="en-US" sz="3200" b="1" i="1" dirty="0" err="1">
                <a:solidFill>
                  <a:srgbClr val="FF0000"/>
                </a:solidFill>
                <a:latin typeface="Times New Roman" pitchFamily="18" charset="0"/>
                <a:cs typeface="Times New Roman" pitchFamily="18" charset="0"/>
              </a:rPr>
              <a:t>Kinh</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Nghĩa</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Đức</a:t>
            </a:r>
            <a:r>
              <a:rPr lang="en-US" sz="3200" b="1" i="1" dirty="0">
                <a:solidFill>
                  <a:srgbClr val="FF0000"/>
                </a:solidFill>
                <a:latin typeface="Times New Roman" pitchFamily="18" charset="0"/>
                <a:cs typeface="Times New Roman" pitchFamily="18" charset="0"/>
              </a:rPr>
              <a:t> Tin</a:t>
            </a:r>
          </a:p>
          <a:p>
            <a:pPr algn="just"/>
            <a:r>
              <a:rPr lang="vi-VN" sz="4800" b="1" dirty="0">
                <a:solidFill>
                  <a:schemeClr val="tx1"/>
                </a:solidFill>
                <a:latin typeface="+mj-lt"/>
              </a:rPr>
              <a:t>Ngày Chúa Nhật hô</a:t>
            </a:r>
            <a:r>
              <a:rPr lang="en-US" sz="4800" b="1" dirty="0">
                <a:solidFill>
                  <a:schemeClr val="tx1"/>
                </a:solidFill>
                <a:latin typeface="Times New Roman" pitchFamily="18" charset="0"/>
                <a:cs typeface="Times New Roman" pitchFamily="18" charset="0"/>
              </a:rPr>
              <a:t>m nay</a:t>
            </a:r>
            <a:r>
              <a:rPr lang="vi-VN" sz="4800" b="1" dirty="0">
                <a:solidFill>
                  <a:schemeClr val="tx1"/>
                </a:solidFill>
                <a:latin typeface="+mj-lt"/>
              </a:rPr>
              <a:t>, chúng con </a:t>
            </a:r>
            <a:r>
              <a:rPr lang="vi-VN" sz="4800" b="1" dirty="0">
                <a:solidFill>
                  <a:schemeClr val="tx1"/>
                </a:solidFill>
                <a:latin typeface="Times New Roman" pitchFamily="18" charset="0"/>
                <a:cs typeface="Times New Roman" pitchFamily="18" charset="0"/>
              </a:rPr>
              <a:t>h</a:t>
            </a:r>
            <a:r>
              <a:rPr lang="en-US" sz="4800" b="1" dirty="0" err="1">
                <a:solidFill>
                  <a:schemeClr val="tx1"/>
                </a:solidFill>
                <a:latin typeface="Times New Roman" pitchFamily="18" charset="0"/>
                <a:cs typeface="Times New Roman" pitchFamily="18" charset="0"/>
              </a:rPr>
              <a:t>iệ</a:t>
            </a:r>
            <a:r>
              <a:rPr lang="vi-VN" sz="4800" b="1" dirty="0">
                <a:solidFill>
                  <a:schemeClr val="tx1"/>
                </a:solidFill>
                <a:latin typeface="Times New Roman" pitchFamily="18" charset="0"/>
                <a:cs typeface="Times New Roman" pitchFamily="18" charset="0"/>
              </a:rPr>
              <a:t>p</a:t>
            </a:r>
            <a:r>
              <a:rPr lang="vi-VN" sz="4800" b="1" dirty="0">
                <a:solidFill>
                  <a:schemeClr val="tx1"/>
                </a:solidFill>
                <a:latin typeface="+mj-lt"/>
              </a:rPr>
              <a:t> nhau kính lạy thờ phượng Chúa, </a:t>
            </a:r>
            <a:r>
              <a:rPr lang="vi-VN" sz="4800" b="1" dirty="0">
                <a:solidFill>
                  <a:schemeClr val="tx1"/>
                </a:solidFill>
                <a:latin typeface="Times New Roman" pitchFamily="18" charset="0"/>
                <a:cs typeface="Times New Roman" pitchFamily="18" charset="0"/>
              </a:rPr>
              <a:t>k</a:t>
            </a:r>
            <a:r>
              <a:rPr lang="en-US" sz="4800" b="1" dirty="0" err="1">
                <a:solidFill>
                  <a:schemeClr val="tx1"/>
                </a:solidFill>
                <a:latin typeface="Times New Roman" pitchFamily="18" charset="0"/>
                <a:cs typeface="Times New Roman" pitchFamily="18" charset="0"/>
              </a:rPr>
              <a:t>hô</a:t>
            </a:r>
            <a:r>
              <a:rPr lang="vi-VN" sz="4800" b="1" dirty="0">
                <a:solidFill>
                  <a:schemeClr val="tx1"/>
                </a:solidFill>
                <a:latin typeface="Times New Roman" pitchFamily="18" charset="0"/>
                <a:cs typeface="Times New Roman" pitchFamily="18" charset="0"/>
              </a:rPr>
              <a:t>ng</a:t>
            </a:r>
            <a:r>
              <a:rPr lang="vi-VN" sz="4800" b="1" dirty="0">
                <a:solidFill>
                  <a:schemeClr val="tx1"/>
                </a:solidFill>
                <a:latin typeface="+mj-lt"/>
              </a:rPr>
              <a:t> khen cảm tạ ơn Chúa về mọi ơn lành Chúa đã ban cho chúng con, và phạt tạ Chúa vì những tội lỗi chúng con đã phạm mất lòng Chúa: thì chúng con dám xin Chúa hãy</a:t>
            </a:r>
            <a:endParaRPr lang="en-US" sz="4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14404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khấn ban những ơn cần kíp cho chúng con được rỗi linh hồn. </a:t>
            </a:r>
            <a:r>
              <a:rPr lang="vi-VN" sz="4800" b="1" dirty="0">
                <a:solidFill>
                  <a:schemeClr val="tx1"/>
                </a:solidFill>
                <a:latin typeface="+mj-lt"/>
              </a:rPr>
              <a:t>Nên chúng con cả lòng tin vững vàng mọi điều đạo thánh Chúa dạy; nhất là những điều cần kíp này: là có một Đức Chúa Trời phép tắc vô cùng dựng nên trời đất; mà Người có Ba Ngôi. Ngôi Thứ Nhất là Cha, Ngôi Thứ Hai là Con, </a:t>
            </a:r>
            <a:endParaRPr lang="en-US" sz="48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3342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Ngôi Thứ Ba là Thánh Thần; Ba Ngôi cũng một tính một phép cho nên Ba Ngôi cũng một Chúa mà   thôi. Chúng con tin Ngôi Thứ Hai ra đời làm người sinh bởi Bà Maria đồng trinh, đặt tên là Giêsu; ở thế gian ba mươi ba năm, đoạn chịu chết trên cây thánh giá mà chuộc tội cho thiên</a:t>
            </a:r>
            <a:endParaRPr lang="en-US" sz="4800" b="1" dirty="0">
              <a:latin typeface="+mj-lt"/>
              <a:cs typeface="Times New Roman" pitchFamily="18" charset="0"/>
            </a:endParaRPr>
          </a:p>
        </p:txBody>
      </p:sp>
    </p:spTree>
    <p:extLst>
      <p:ext uri="{BB962C8B-B14F-4D97-AF65-F5344CB8AC3E}">
        <p14:creationId xmlns:p14="http://schemas.microsoft.com/office/powerpoint/2010/main" val="422601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hạ; đến ngày thứ ba Người sống lại; khỏi bốn mươi ngày lên trời đủ mười ngày lại cho Đức Chúa Thánh Thần xuống trên các Thánh Tông Đồ và Hội Thánh mới lập; ai chẳng thông công cùng Hội Thánh ấy thì chẳng được rỗi linh hồn; mà linh hồn là giống thiêng liêng chẳng hề chết được; </a:t>
            </a:r>
            <a:endParaRPr lang="en-US" sz="4800" b="1" dirty="0">
              <a:latin typeface="+mj-lt"/>
              <a:cs typeface="Times New Roman" pitchFamily="18" charset="0"/>
            </a:endParaRPr>
          </a:p>
        </p:txBody>
      </p:sp>
    </p:spTree>
    <p:extLst>
      <p:ext uri="{BB962C8B-B14F-4D97-AF65-F5344CB8AC3E}">
        <p14:creationId xmlns:p14="http://schemas.microsoft.com/office/powerpoint/2010/main" val="166288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và đến ngày tận thế xác loài người ta sẽ sống lại mà chịu phán xét, kẻ lành lên thiên đàng hưởng phúc đời đời; kẻ dữ sa hỏa ngục chịu phạt vô cùng. Mà chúng con tin các sự ấy mà thôi thì chưa đủ cho được lên thiên đàng; song phải giữ Mười Điều Răn Đức Chúa Trời cùng Sáu Luật Điều Hội</a:t>
            </a:r>
            <a:endParaRPr lang="en-US" sz="4800" b="1" dirty="0">
              <a:latin typeface="+mj-lt"/>
              <a:cs typeface="Times New Roman" pitchFamily="18" charset="0"/>
            </a:endParaRPr>
          </a:p>
        </p:txBody>
      </p:sp>
    </p:spTree>
    <p:extLst>
      <p:ext uri="{BB962C8B-B14F-4D97-AF65-F5344CB8AC3E}">
        <p14:creationId xmlns:p14="http://schemas.microsoft.com/office/powerpoint/2010/main" val="302494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Thánh, và làm những việc lành phúc đức. Nhân vì sự ấy chúng con hằng phải sợ hãi và trốn tránh các tội lỗi, nhất là bảy mối tội đầu, là căn nguyên mọi tội lỗi khác. Vậy chúng con phải ân cần lo lắng mà năng chịu các phép Bí Tích Đức Chúa Giêsu đã truyền, là những phương linh nghiệm cho</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20923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chúng con được nên thánh.Có bảy phép Bí Tích mà thôi song phép Rửa Tội, phép Mình Thánh Chúa cùng phép Giải Tội là ba phép cần kíp hơn cho chúng con được rỗi.</a:t>
            </a:r>
            <a:r>
              <a:rPr lang="en-US" sz="4800" b="1" dirty="0">
                <a:latin typeface="+mj-lt"/>
              </a:rPr>
              <a:t> </a:t>
            </a:r>
            <a:r>
              <a:rPr lang="vi-VN" sz="4800" b="1" dirty="0">
                <a:latin typeface="+mj-lt"/>
              </a:rPr>
              <a:t>Ấy vậy chúng con hằng phải ra sức lo lắng thể nào mà chịu các phép trọng ấy cho nên, cùng tin thật vững vàng mà giữ cẩn thận</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80890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các điều trước này, thì mới được hưởng phúc thanh nhàn đời đời kiếp kiếp. Amen.</a:t>
            </a:r>
            <a:endParaRPr lang="en-US" sz="4800" b="1" dirty="0">
              <a:latin typeface="+mj-lt"/>
            </a:endParaRPr>
          </a:p>
          <a:p>
            <a:pPr algn="just"/>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122318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3600" b="1" i="1" dirty="0">
                <a:solidFill>
                  <a:srgbClr val="FF0000"/>
                </a:solidFill>
                <a:latin typeface="Times New Roman" pitchFamily="18" charset="0"/>
                <a:cs typeface="Times New Roman" pitchFamily="18" charset="0"/>
              </a:rPr>
              <a:t>2.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Mười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Điều</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Răn</a:t>
            </a:r>
            <a:endParaRPr lang="en-US" sz="3600" b="1" i="1" dirty="0">
              <a:solidFill>
                <a:srgbClr val="FF0000"/>
              </a:solidFill>
              <a:latin typeface="Times New Roman" pitchFamily="18" charset="0"/>
              <a:cs typeface="Times New Roman" pitchFamily="18" charset="0"/>
            </a:endParaRPr>
          </a:p>
          <a:p>
            <a:pPr algn="l"/>
            <a:r>
              <a:rPr lang="vi-VN" sz="4000" b="1" dirty="0">
                <a:solidFill>
                  <a:schemeClr val="tx1"/>
                </a:solidFill>
                <a:latin typeface="+mj-lt"/>
              </a:rPr>
              <a:t>Ðạo Ðức Chúa Trời có Mười </a:t>
            </a:r>
            <a:r>
              <a:rPr lang="vi-VN" sz="4000" b="1" dirty="0">
                <a:solidFill>
                  <a:schemeClr val="tx1"/>
                </a:solidFill>
                <a:latin typeface="+mj-lt"/>
                <a:cs typeface="Times New Roman" pitchFamily="18" charset="0"/>
              </a:rPr>
              <a:t>điề</a:t>
            </a:r>
            <a:r>
              <a:rPr lang="en-US" sz="4000" b="1" dirty="0">
                <a:solidFill>
                  <a:schemeClr val="tx1"/>
                </a:solidFill>
                <a:latin typeface="+mj-lt"/>
                <a:cs typeface="Times New Roman" pitchFamily="18" charset="0"/>
              </a:rPr>
              <a:t>u </a:t>
            </a:r>
            <a:r>
              <a:rPr lang="vi-VN" sz="4000" b="1" dirty="0">
                <a:solidFill>
                  <a:schemeClr val="tx1"/>
                </a:solidFill>
                <a:latin typeface="+mj-lt"/>
                <a:cs typeface="Times New Roman" pitchFamily="18" charset="0"/>
              </a:rPr>
              <a:t>răn</a:t>
            </a:r>
            <a:r>
              <a:rPr lang="vi-VN" sz="4000" b="1" dirty="0">
                <a:solidFill>
                  <a:schemeClr val="tx1"/>
                </a:solidFill>
                <a:latin typeface="+mj-lt"/>
              </a:rPr>
              <a:t>:</a:t>
            </a:r>
            <a:endParaRPr lang="en-US" sz="4000" b="1" dirty="0">
              <a:solidFill>
                <a:schemeClr val="tx1"/>
              </a:solidFill>
              <a:latin typeface="+mj-lt"/>
            </a:endParaRPr>
          </a:p>
          <a:p>
            <a:pPr algn="just"/>
            <a:r>
              <a:rPr lang="vi-VN" sz="4000" b="1" dirty="0">
                <a:solidFill>
                  <a:schemeClr val="tx1"/>
                </a:solidFill>
                <a:latin typeface="+mj-lt"/>
              </a:rPr>
              <a:t>Thứ nhất: Thờ phượng một Ðức Chúa Trời và kính mến Người trên hết mọi sự. </a:t>
            </a:r>
          </a:p>
          <a:p>
            <a:pPr algn="l"/>
            <a:r>
              <a:rPr lang="vi-VN" sz="4000" b="1" dirty="0">
                <a:solidFill>
                  <a:schemeClr val="tx1"/>
                </a:solidFill>
                <a:latin typeface="+mj-lt"/>
              </a:rPr>
              <a:t>Thứ hai: Chớ kêu tên Ðức Chúa Trời vô cớ. </a:t>
            </a:r>
            <a:br>
              <a:rPr lang="vi-VN" sz="4000" b="1" dirty="0">
                <a:solidFill>
                  <a:schemeClr val="tx1"/>
                </a:solidFill>
                <a:latin typeface="+mj-lt"/>
              </a:rPr>
            </a:br>
            <a:r>
              <a:rPr lang="vi-VN" sz="4000" b="1" dirty="0">
                <a:solidFill>
                  <a:schemeClr val="tx1"/>
                </a:solidFill>
                <a:latin typeface="+mj-lt"/>
              </a:rPr>
              <a:t>Thứ ba: Giữ ngày Chúa nhật. </a:t>
            </a:r>
            <a:br>
              <a:rPr lang="vi-VN" sz="4000" b="1" dirty="0">
                <a:solidFill>
                  <a:schemeClr val="tx1"/>
                </a:solidFill>
                <a:latin typeface="+mj-lt"/>
              </a:rPr>
            </a:br>
            <a:r>
              <a:rPr lang="vi-VN" sz="4000" b="1" dirty="0">
                <a:solidFill>
                  <a:schemeClr val="tx1"/>
                </a:solidFill>
                <a:latin typeface="+mj-lt"/>
              </a:rPr>
              <a:t>Thứ bốn: Thảo kính cha mẹ. </a:t>
            </a:r>
            <a:br>
              <a:rPr lang="vi-VN" sz="4000" b="1" dirty="0">
                <a:solidFill>
                  <a:schemeClr val="tx1"/>
                </a:solidFill>
                <a:latin typeface="+mj-lt"/>
              </a:rPr>
            </a:br>
            <a:r>
              <a:rPr lang="vi-VN" sz="4000" b="1" dirty="0">
                <a:solidFill>
                  <a:schemeClr val="tx1"/>
                </a:solidFill>
                <a:latin typeface="+mj-lt"/>
              </a:rPr>
              <a:t>Thứ năm: Chớ giết người. </a:t>
            </a:r>
          </a:p>
          <a:p>
            <a:pPr algn="just"/>
            <a:r>
              <a:rPr lang="vi-VN" sz="4000" b="1" dirty="0">
                <a:solidFill>
                  <a:schemeClr val="tx1"/>
                </a:solidFill>
                <a:latin typeface="+mj-lt"/>
              </a:rPr>
              <a:t>Thứ sáu: Chớ làm sự dâm dục.</a:t>
            </a:r>
            <a:endParaRPr lang="en-US" sz="4000" b="1" dirty="0">
              <a:solidFill>
                <a:schemeClr val="tx1"/>
              </a:solidFill>
              <a:latin typeface="+mj-lt"/>
            </a:endParaRPr>
          </a:p>
          <a:p>
            <a:pPr algn="l"/>
            <a:br>
              <a:rPr lang="vi-VN" sz="4000" b="1" dirty="0">
                <a:solidFill>
                  <a:schemeClr val="tx1"/>
                </a:solidFill>
                <a:latin typeface="+mj-lt"/>
              </a:rPr>
            </a:br>
            <a:br>
              <a:rPr lang="vi-VN" sz="4000" b="1" dirty="0">
                <a:solidFill>
                  <a:schemeClr val="tx1"/>
                </a:solidFill>
              </a:rPr>
            </a:br>
            <a:endParaRPr lang="en-US"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78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l"/>
            <a:r>
              <a:rPr lang="vi-VN" sz="4000" b="1" dirty="0">
                <a:solidFill>
                  <a:schemeClr val="tx1"/>
                </a:solidFill>
                <a:latin typeface="+mj-lt"/>
              </a:rPr>
              <a:t>Thứ bảy: Chớ lấy của người. </a:t>
            </a:r>
            <a:br>
              <a:rPr lang="vi-VN" sz="4000" b="1" dirty="0">
                <a:solidFill>
                  <a:schemeClr val="tx1"/>
                </a:solidFill>
                <a:latin typeface="+mj-lt"/>
              </a:rPr>
            </a:br>
            <a:r>
              <a:rPr lang="vi-VN" sz="4000" b="1" dirty="0">
                <a:solidFill>
                  <a:schemeClr val="tx1"/>
                </a:solidFill>
                <a:latin typeface="+mj-lt"/>
              </a:rPr>
              <a:t>Thứ tám: Chớ làm chứng dối. </a:t>
            </a:r>
            <a:br>
              <a:rPr lang="vi-VN" sz="4000" b="1" dirty="0">
                <a:solidFill>
                  <a:schemeClr val="tx1"/>
                </a:solidFill>
                <a:latin typeface="+mj-lt"/>
              </a:rPr>
            </a:br>
            <a:r>
              <a:rPr lang="vi-VN" sz="4000" b="1" dirty="0">
                <a:solidFill>
                  <a:schemeClr val="tx1"/>
                </a:solidFill>
                <a:latin typeface="+mj-lt"/>
              </a:rPr>
              <a:t>Thứ chín: Chớ muốn vợ chồng người. </a:t>
            </a:r>
            <a:br>
              <a:rPr lang="vi-VN" sz="4000" b="1" dirty="0">
                <a:solidFill>
                  <a:schemeClr val="tx1"/>
                </a:solidFill>
                <a:latin typeface="+mj-lt"/>
              </a:rPr>
            </a:br>
            <a:r>
              <a:rPr lang="vi-VN" sz="4000" b="1" dirty="0">
                <a:solidFill>
                  <a:schemeClr val="tx1"/>
                </a:solidFill>
                <a:latin typeface="+mj-lt"/>
              </a:rPr>
              <a:t>Thứ mười: Chớ tham của người. </a:t>
            </a:r>
          </a:p>
          <a:p>
            <a:pPr algn="just"/>
            <a:r>
              <a:rPr lang="vi-VN" sz="4000" b="1" dirty="0">
                <a:solidFill>
                  <a:schemeClr val="tx1"/>
                </a:solidFill>
                <a:latin typeface="+mj-lt"/>
              </a:rPr>
              <a:t>Mười điều răn ấy tóm về hai </a:t>
            </a:r>
            <a:r>
              <a:rPr lang="en-US" sz="4000" b="1" dirty="0" err="1">
                <a:solidFill>
                  <a:schemeClr val="tx1"/>
                </a:solidFill>
                <a:latin typeface="Times New Roman" pitchFamily="18" charset="0"/>
                <a:cs typeface="Times New Roman" pitchFamily="18" charset="0"/>
              </a:rPr>
              <a:t>điều</a:t>
            </a:r>
            <a:r>
              <a:rPr lang="en-US" sz="4000" b="1" dirty="0">
                <a:solidFill>
                  <a:schemeClr val="tx1"/>
                </a:solidFill>
                <a:latin typeface="+mj-lt"/>
                <a:cs typeface="Times New Roman" pitchFamily="18" charset="0"/>
              </a:rPr>
              <a:t> </a:t>
            </a:r>
            <a:r>
              <a:rPr lang="vi-VN" sz="4000" b="1" dirty="0">
                <a:solidFill>
                  <a:schemeClr val="tx1"/>
                </a:solidFill>
                <a:latin typeface="+mj-lt"/>
              </a:rPr>
              <a:t>này mà </a:t>
            </a:r>
            <a:r>
              <a:rPr lang="vi-VN" sz="4000" b="1" dirty="0">
                <a:latin typeface="+mj-lt"/>
                <a:cs typeface="Times New Roman" pitchFamily="18" charset="0"/>
              </a:rPr>
              <a:t>n</a:t>
            </a:r>
            <a:r>
              <a:rPr lang="vi-VN" sz="4000" b="1" dirty="0">
                <a:solidFill>
                  <a:schemeClr val="tx1"/>
                </a:solidFill>
                <a:latin typeface="+mj-lt"/>
              </a:rPr>
              <a:t>hớ: Trước kính mến một Ðức Chúa Trời trên hết mọi sự; sau lại yêu người như mình ta vậy. Amen.</a:t>
            </a:r>
            <a:endParaRPr lang="en-US" sz="4000" b="1" dirty="0">
              <a:solidFill>
                <a:schemeClr val="tx1"/>
              </a:solidFill>
              <a:latin typeface="+mj-lt"/>
            </a:endParaRPr>
          </a:p>
          <a:p>
            <a:pPr algn="l"/>
            <a:endParaRPr lang="vi-VN" sz="4000" b="1" dirty="0">
              <a:solidFill>
                <a:schemeClr val="tx1"/>
              </a:solidFill>
              <a:latin typeface="+mj-lt"/>
            </a:endParaRPr>
          </a:p>
          <a:p>
            <a:pPr algn="just"/>
            <a:endParaRPr lang="en-US" sz="4000" b="1" dirty="0">
              <a:solidFill>
                <a:schemeClr val="tx1"/>
              </a:solidFill>
              <a:latin typeface="+mj-lt"/>
              <a:cs typeface="Times New Roman" pitchFamily="18" charset="0"/>
            </a:endParaRPr>
          </a:p>
          <a:p>
            <a:pPr algn="just"/>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80297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3. </a:t>
            </a:r>
            <a:r>
              <a:rPr lang="en-US" sz="3600" b="1" i="1" err="1">
                <a:solidFill>
                  <a:srgbClr val="FF0000"/>
                </a:solidFill>
                <a:latin typeface="Times New Roman" pitchFamily="18" charset="0"/>
                <a:cs typeface="Times New Roman" pitchFamily="18" charset="0"/>
              </a:rPr>
              <a:t>Sáu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Điều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Răn</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Hội</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Thánh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Hội thánh có sáu điều răn:</a:t>
            </a:r>
            <a:endParaRPr lang="en-US" sz="4000" b="1">
              <a:solidFill>
                <a:schemeClr val="tx1"/>
              </a:solidFill>
              <a:latin typeface="+mj-lt"/>
            </a:endParaRPr>
          </a:p>
          <a:p>
            <a:pPr algn="just"/>
            <a:r>
              <a:rPr lang="vi-VN" sz="4000" b="1">
                <a:solidFill>
                  <a:schemeClr val="tx1"/>
                </a:solidFill>
                <a:latin typeface="+mj-lt"/>
              </a:rPr>
              <a:t>Thứ nhất: Xem lễ ngày Chúa nhật cùng các ngày Lễ buộc. </a:t>
            </a:r>
            <a:endParaRPr lang="en-US" sz="4000" b="1">
              <a:solidFill>
                <a:schemeClr val="tx1"/>
              </a:solidFill>
              <a:latin typeface="+mj-lt"/>
            </a:endParaRPr>
          </a:p>
          <a:p>
            <a:pPr algn="just"/>
            <a:r>
              <a:rPr lang="vi-VN" sz="4000" b="1">
                <a:solidFill>
                  <a:schemeClr val="tx1"/>
                </a:solidFill>
                <a:latin typeface="+mj-lt"/>
              </a:rPr>
              <a:t>Thứ hai: Chớ làm việc xác ngày Chúa nhật cùng các ngày Lễ buộc. </a:t>
            </a:r>
          </a:p>
          <a:p>
            <a:pPr algn="just"/>
            <a:r>
              <a:rPr lang="vi-VN" sz="4000" b="1">
                <a:solidFill>
                  <a:schemeClr val="tx1"/>
                </a:solidFill>
                <a:latin typeface="+mj-lt"/>
              </a:rPr>
              <a:t>Thứ ba: Xưng tội trong một năm ít là một lần.</a:t>
            </a:r>
          </a:p>
          <a:p>
            <a:pPr algn="just"/>
            <a:r>
              <a:rPr lang="vi-VN" sz="4000" b="1">
                <a:solidFill>
                  <a:schemeClr val="tx1"/>
                </a:solidFill>
                <a:latin typeface="+mj-lt"/>
              </a:rPr>
              <a:t>Thứ bốn: Chịu Mình Thánh Ðức Chúa Giêsu trong Mùa Phục Sinh.</a:t>
            </a:r>
            <a:endParaRPr lang="en-US" sz="4000" b="1">
              <a:solidFill>
                <a:schemeClr val="tx1"/>
              </a:solidFill>
              <a:latin typeface="+mj-lt"/>
            </a:endParaRPr>
          </a:p>
          <a:p>
            <a:pPr algn="just"/>
            <a:endParaRPr lang="en-US" sz="4000" b="1">
              <a:solidFill>
                <a:schemeClr val="tx1"/>
              </a:solidFill>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6401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vi-VN" sz="4000" b="1">
                <a:solidFill>
                  <a:schemeClr val="tx1"/>
                </a:solidFill>
                <a:latin typeface="+mj-lt"/>
              </a:rPr>
              <a:t>Thứ năm: Giữ chay những ngày Hội thánh buộc.</a:t>
            </a:r>
            <a:endParaRPr lang="en-US" sz="4000" b="1">
              <a:solidFill>
                <a:schemeClr val="tx1"/>
              </a:solidFill>
              <a:latin typeface="+mj-lt"/>
            </a:endParaRPr>
          </a:p>
          <a:p>
            <a:pPr algn="just"/>
            <a:r>
              <a:rPr lang="vi-VN" sz="4000" b="1">
                <a:solidFill>
                  <a:schemeClr val="tx1"/>
                </a:solidFill>
                <a:latin typeface="+mj-lt"/>
              </a:rPr>
              <a:t> Thứ sáu: Kiêng thịt </a:t>
            </a:r>
            <a:r>
              <a:rPr lang="en-US" sz="4000" b="1" err="1">
                <a:solidFill>
                  <a:schemeClr val="tx1"/>
                </a:solidFill>
                <a:latin typeface="Times New Roman" pitchFamily="18" charset="0"/>
                <a:cs typeface="Times New Roman" pitchFamily="18" charset="0"/>
              </a:rPr>
              <a:t>ngày</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thứ</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sáu</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cùng</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các</a:t>
            </a:r>
            <a:r>
              <a:rPr lang="en-US" sz="4000" b="1">
                <a:solidFill>
                  <a:schemeClr val="tx1"/>
                </a:solidFill>
                <a:latin typeface="+mj-lt"/>
                <a:cs typeface="Times New Roman" pitchFamily="18" charset="0"/>
              </a:rPr>
              <a:t> </a:t>
            </a:r>
            <a:r>
              <a:rPr lang="vi-VN" sz="4000" b="1">
                <a:solidFill>
                  <a:schemeClr val="tx1"/>
                </a:solidFill>
                <a:latin typeface="+mj-lt"/>
              </a:rPr>
              <a:t>ngày </a:t>
            </a:r>
            <a:r>
              <a:rPr lang="en-US" sz="4000" b="1" err="1">
                <a:solidFill>
                  <a:schemeClr val="tx1"/>
                </a:solidFill>
                <a:latin typeface="Times New Roman" pitchFamily="18" charset="0"/>
                <a:cs typeface="Times New Roman" pitchFamily="18" charset="0"/>
              </a:rPr>
              <a:t>khác</a:t>
            </a:r>
            <a:r>
              <a:rPr lang="en-US" sz="4000" b="1">
                <a:solidFill>
                  <a:schemeClr val="tx1"/>
                </a:solidFill>
                <a:latin typeface="+mj-lt"/>
                <a:cs typeface="Times New Roman" pitchFamily="18" charset="0"/>
              </a:rPr>
              <a:t> </a:t>
            </a:r>
            <a:r>
              <a:rPr lang="vi-VN" sz="4000" b="1">
                <a:solidFill>
                  <a:schemeClr val="tx1"/>
                </a:solidFill>
                <a:latin typeface="+mj-lt"/>
              </a:rPr>
              <a:t>Hội thánh dạy.</a:t>
            </a:r>
            <a:endParaRPr lang="vi-VN"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189289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4. </a:t>
            </a:r>
            <a:r>
              <a:rPr lang="en-US" sz="3600" b="1" i="1" err="1">
                <a:solidFill>
                  <a:srgbClr val="FF0000"/>
                </a:solidFill>
                <a:latin typeface="Times New Roman" pitchFamily="18" charset="0"/>
                <a:cs typeface="Times New Roman" pitchFamily="18" charset="0"/>
              </a:rPr>
              <a:t>Kinh</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Bảy</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Phép</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Bí</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Tích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Đạo Đức Chúa Trời có bảy phép Bí</a:t>
            </a:r>
            <a:r>
              <a:rPr lang="en-US" sz="4000" b="1">
                <a:solidFill>
                  <a:schemeClr val="tx1"/>
                </a:solidFill>
                <a:latin typeface="+mj-lt"/>
              </a:rPr>
              <a:t> </a:t>
            </a:r>
            <a:r>
              <a:rPr lang="vi-VN" sz="4000" b="1">
                <a:solidFill>
                  <a:schemeClr val="tx1"/>
                </a:solidFill>
                <a:latin typeface="+mj-lt"/>
              </a:rPr>
              <a:t>tích:</a:t>
            </a:r>
            <a:endParaRPr lang="en-US" sz="4000" b="1">
              <a:solidFill>
                <a:schemeClr val="tx1"/>
              </a:solidFill>
              <a:latin typeface="+mj-lt"/>
            </a:endParaRPr>
          </a:p>
          <a:p>
            <a:pPr algn="just"/>
            <a:r>
              <a:rPr lang="vi-VN" sz="4000" b="1">
                <a:solidFill>
                  <a:schemeClr val="tx1"/>
                </a:solidFill>
                <a:latin typeface="+mj-lt"/>
              </a:rPr>
              <a:t>Thứ nhất: là phép Rửa tội.</a:t>
            </a:r>
            <a:endParaRPr lang="en-US" sz="4000" b="1">
              <a:solidFill>
                <a:schemeClr val="tx1"/>
              </a:solidFill>
              <a:latin typeface="+mj-lt"/>
            </a:endParaRPr>
          </a:p>
          <a:p>
            <a:pPr algn="just"/>
            <a:r>
              <a:rPr lang="vi-VN" sz="4000" b="1">
                <a:solidFill>
                  <a:schemeClr val="tx1"/>
                </a:solidFill>
                <a:latin typeface="+mj-lt"/>
              </a:rPr>
              <a:t>Thứ hai: là phép Thêm sức.</a:t>
            </a:r>
            <a:endParaRPr lang="en-US" sz="4000" b="1">
              <a:solidFill>
                <a:schemeClr val="tx1"/>
              </a:solidFill>
              <a:latin typeface="+mj-lt"/>
            </a:endParaRPr>
          </a:p>
          <a:p>
            <a:pPr algn="just"/>
            <a:r>
              <a:rPr lang="vi-VN" sz="4000" b="1">
                <a:solidFill>
                  <a:schemeClr val="tx1"/>
                </a:solidFill>
                <a:latin typeface="+mj-lt"/>
              </a:rPr>
              <a:t>Thứ ba: là phép Mình Thánh Chúa.</a:t>
            </a:r>
            <a:endParaRPr lang="en-US" sz="4000" b="1">
              <a:solidFill>
                <a:schemeClr val="tx1"/>
              </a:solidFill>
              <a:latin typeface="+mj-lt"/>
            </a:endParaRPr>
          </a:p>
          <a:p>
            <a:pPr algn="just"/>
            <a:r>
              <a:rPr lang="vi-VN" sz="4000" b="1">
                <a:solidFill>
                  <a:schemeClr val="tx1"/>
                </a:solidFill>
                <a:latin typeface="+mj-lt"/>
              </a:rPr>
              <a:t>Thứ bốn: là phép Giải tội.</a:t>
            </a:r>
            <a:endParaRPr lang="en-US" sz="4000" b="1">
              <a:solidFill>
                <a:schemeClr val="tx1"/>
              </a:solidFill>
              <a:latin typeface="+mj-lt"/>
            </a:endParaRPr>
          </a:p>
          <a:p>
            <a:pPr algn="just"/>
            <a:r>
              <a:rPr lang="vi-VN" sz="4000" b="1">
                <a:solidFill>
                  <a:schemeClr val="tx1"/>
                </a:solidFill>
                <a:latin typeface="+mj-lt"/>
              </a:rPr>
              <a:t>Thứ năm: là phép Xức dầu thánh.</a:t>
            </a:r>
            <a:endParaRPr lang="en-US" sz="4000" b="1">
              <a:solidFill>
                <a:schemeClr val="tx1"/>
              </a:solidFill>
              <a:latin typeface="+mj-lt"/>
            </a:endParaRPr>
          </a:p>
          <a:p>
            <a:pPr algn="just"/>
            <a:r>
              <a:rPr lang="vi-VN" sz="4000" b="1">
                <a:solidFill>
                  <a:schemeClr val="tx1"/>
                </a:solidFill>
                <a:latin typeface="+mj-lt"/>
              </a:rPr>
              <a:t>Thứ sáu: là phép Truyền chức thánh.</a:t>
            </a:r>
            <a:endParaRPr lang="en-US" sz="4000" b="1">
              <a:solidFill>
                <a:schemeClr val="tx1"/>
              </a:solidFill>
              <a:latin typeface="+mj-lt"/>
            </a:endParaRPr>
          </a:p>
          <a:p>
            <a:pPr algn="just"/>
            <a:r>
              <a:rPr lang="vi-VN" sz="4000" b="1">
                <a:solidFill>
                  <a:schemeClr val="tx1"/>
                </a:solidFill>
                <a:latin typeface="+mj-lt"/>
              </a:rPr>
              <a:t>Thứ bảy: là phép Hôn</a:t>
            </a:r>
            <a:r>
              <a:rPr lang="en-US" sz="4000" b="1">
                <a:solidFill>
                  <a:schemeClr val="tx1"/>
                </a:solidFill>
                <a:latin typeface="+mj-lt"/>
              </a:rPr>
              <a:t> </a:t>
            </a:r>
            <a:r>
              <a:rPr lang="vi-VN" sz="4000" b="1">
                <a:solidFill>
                  <a:schemeClr val="tx1"/>
                </a:solidFill>
                <a:latin typeface="+mj-lt"/>
              </a:rPr>
              <a:t>phối.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86747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rmAutofit lnSpcReduction="10000"/>
          </a:bodyPr>
          <a:lstStyle/>
          <a:p>
            <a:pPr algn="just"/>
            <a:r>
              <a:rPr lang="en-US" sz="3900" b="1" i="1">
                <a:solidFill>
                  <a:srgbClr val="FF0000"/>
                </a:solidFill>
                <a:latin typeface="Times New Roman" pitchFamily="18" charset="0"/>
                <a:cs typeface="Times New Roman" pitchFamily="18" charset="0"/>
              </a:rPr>
              <a:t>5. </a:t>
            </a:r>
            <a:r>
              <a:rPr lang="en-US" sz="3900" b="1" i="1" err="1">
                <a:solidFill>
                  <a:srgbClr val="FF0000"/>
                </a:solidFill>
                <a:latin typeface="Times New Roman" pitchFamily="18" charset="0"/>
                <a:cs typeface="Times New Roman" pitchFamily="18" charset="0"/>
              </a:rPr>
              <a:t>Kinh</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Mười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Bốn</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Mối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Thương</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Người</a:t>
            </a:r>
            <a:r>
              <a:rPr lang="en-US" sz="3900" b="1" i="1">
                <a:solidFill>
                  <a:srgbClr val="FF0000"/>
                </a:solidFill>
                <a:latin typeface="Times New Roman" pitchFamily="18" charset="0"/>
                <a:cs typeface="Times New Roman" pitchFamily="18" charset="0"/>
              </a:rPr>
              <a:t>:</a:t>
            </a:r>
          </a:p>
          <a:p>
            <a:pPr algn="just"/>
            <a:r>
              <a:rPr lang="vi-VN" sz="3900" b="1" i="1">
                <a:solidFill>
                  <a:srgbClr val="FF0000"/>
                </a:solidFill>
                <a:latin typeface="+mj-lt"/>
              </a:rPr>
              <a:t>Thương người có mười bốn mối</a:t>
            </a:r>
            <a:endParaRPr lang="en-US" sz="3900" b="1" i="1">
              <a:solidFill>
                <a:srgbClr val="FF0000"/>
              </a:solidFill>
              <a:latin typeface="+mj-lt"/>
            </a:endParaRPr>
          </a:p>
          <a:p>
            <a:pPr algn="just"/>
            <a:r>
              <a:rPr lang="vi-VN" sz="3900" b="1" i="1">
                <a:solidFill>
                  <a:srgbClr val="FF0000"/>
                </a:solidFill>
                <a:latin typeface="+mj-lt"/>
              </a:rPr>
              <a:t>Thương xác bảy mối:</a:t>
            </a:r>
            <a:endParaRPr lang="en-US" sz="3900" b="1" i="1">
              <a:solidFill>
                <a:srgbClr val="FF0000"/>
              </a:solidFill>
              <a:latin typeface="+mj-lt"/>
            </a:endParaRPr>
          </a:p>
          <a:p>
            <a:pPr algn="just"/>
            <a:r>
              <a:rPr lang="vi-VN" sz="4300" b="1">
                <a:solidFill>
                  <a:schemeClr val="tx1"/>
                </a:solidFill>
                <a:latin typeface="+mj-lt"/>
              </a:rPr>
              <a:t>Thứ nhất: cho kẻ đói ăn.</a:t>
            </a:r>
            <a:endParaRPr lang="en-US" sz="4300" b="1">
              <a:solidFill>
                <a:schemeClr val="tx1"/>
              </a:solidFill>
              <a:latin typeface="+mj-lt"/>
            </a:endParaRPr>
          </a:p>
          <a:p>
            <a:pPr algn="just"/>
            <a:r>
              <a:rPr lang="vi-VN" sz="4300" b="1">
                <a:solidFill>
                  <a:schemeClr val="tx1"/>
                </a:solidFill>
                <a:latin typeface="+mj-lt"/>
              </a:rPr>
              <a:t>Thứ hai: cho kẻ khát uống.</a:t>
            </a:r>
            <a:endParaRPr lang="en-US" sz="4300" b="1">
              <a:solidFill>
                <a:schemeClr val="tx1"/>
              </a:solidFill>
              <a:latin typeface="+mj-lt"/>
            </a:endParaRPr>
          </a:p>
          <a:p>
            <a:pPr algn="just"/>
            <a:r>
              <a:rPr lang="vi-VN" sz="4300" b="1">
                <a:solidFill>
                  <a:schemeClr val="tx1"/>
                </a:solidFill>
                <a:latin typeface="+mj-lt"/>
              </a:rPr>
              <a:t>Thứ ba: cho kẻ rách rưới ăn mặc.</a:t>
            </a:r>
            <a:endParaRPr lang="en-US" sz="4300" b="1">
              <a:solidFill>
                <a:schemeClr val="tx1"/>
              </a:solidFill>
              <a:latin typeface="+mj-lt"/>
            </a:endParaRPr>
          </a:p>
          <a:p>
            <a:pPr algn="just"/>
            <a:r>
              <a:rPr lang="vi-VN" sz="4300" b="1">
                <a:solidFill>
                  <a:schemeClr val="tx1"/>
                </a:solidFill>
                <a:latin typeface="+mj-lt"/>
              </a:rPr>
              <a:t>Thứ bốn: viếng kẻ liệt cùng kẻ tù rạc.</a:t>
            </a:r>
            <a:endParaRPr lang="en-US" sz="4300" b="1">
              <a:solidFill>
                <a:schemeClr val="tx1"/>
              </a:solidFill>
              <a:latin typeface="+mj-lt"/>
            </a:endParaRPr>
          </a:p>
          <a:p>
            <a:pPr algn="just"/>
            <a:r>
              <a:rPr lang="vi-VN" sz="4300" b="1">
                <a:solidFill>
                  <a:schemeClr val="tx1"/>
                </a:solidFill>
                <a:latin typeface="+mj-lt"/>
              </a:rPr>
              <a:t>Thứ năm: cho khách đỗ nhà.</a:t>
            </a:r>
            <a:endParaRPr lang="en-US" sz="4300" b="1">
              <a:solidFill>
                <a:schemeClr val="tx1"/>
              </a:solidFill>
              <a:latin typeface="+mj-lt"/>
            </a:endParaRPr>
          </a:p>
          <a:p>
            <a:pPr algn="just"/>
            <a:r>
              <a:rPr lang="vi-VN" sz="4300" b="1">
                <a:solidFill>
                  <a:schemeClr val="tx1"/>
                </a:solidFill>
                <a:latin typeface="+mj-lt"/>
              </a:rPr>
              <a:t>Thứ sáu: chuộc kẻ làm tôi.</a:t>
            </a:r>
            <a:endParaRPr lang="en-US" sz="4300" b="1">
              <a:solidFill>
                <a:schemeClr val="tx1"/>
              </a:solidFill>
              <a:latin typeface="+mj-lt"/>
            </a:endParaRPr>
          </a:p>
          <a:p>
            <a:pPr algn="just"/>
            <a:r>
              <a:rPr lang="vi-VN" sz="4300" b="1">
                <a:solidFill>
                  <a:schemeClr val="tx1"/>
                </a:solidFill>
                <a:latin typeface="+mj-lt"/>
              </a:rPr>
              <a:t>Thứ bảy: chôn xác kẻ chết.</a:t>
            </a:r>
            <a:endParaRPr lang="en-US" sz="4300" b="1">
              <a:solidFill>
                <a:schemeClr val="tx1"/>
              </a:solidFill>
              <a:latin typeface="+mj-lt"/>
              <a:cs typeface="Times New Roman" pitchFamily="18" charset="0"/>
            </a:endParaRPr>
          </a:p>
        </p:txBody>
      </p:sp>
    </p:spTree>
    <p:extLst>
      <p:ext uri="{BB962C8B-B14F-4D97-AF65-F5344CB8AC3E}">
        <p14:creationId xmlns:p14="http://schemas.microsoft.com/office/powerpoint/2010/main" val="1740047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rmAutofit/>
          </a:bodyPr>
          <a:lstStyle/>
          <a:p>
            <a:pPr algn="just"/>
            <a:r>
              <a:rPr lang="vi-VN" sz="3600" b="1" i="1">
                <a:solidFill>
                  <a:srgbClr val="FF0000"/>
                </a:solidFill>
                <a:latin typeface="+mj-lt"/>
              </a:rPr>
              <a:t>Thương linh</a:t>
            </a:r>
            <a:r>
              <a:rPr lang="en-US" sz="3600" b="1" i="1">
                <a:solidFill>
                  <a:srgbClr val="FF0000"/>
                </a:solidFill>
                <a:latin typeface="+mj-lt"/>
              </a:rPr>
              <a:t> </a:t>
            </a:r>
            <a:r>
              <a:rPr lang="vi-VN" sz="3600" b="1" i="1">
                <a:solidFill>
                  <a:srgbClr val="FF0000"/>
                </a:solidFill>
                <a:latin typeface="+mj-lt"/>
              </a:rPr>
              <a:t>hồn bảy mối:</a:t>
            </a:r>
            <a:endParaRPr lang="en-US" sz="3600" b="1" i="1">
              <a:solidFill>
                <a:srgbClr val="FF0000"/>
              </a:solidFill>
              <a:latin typeface="+mj-lt"/>
            </a:endParaRPr>
          </a:p>
          <a:p>
            <a:pPr algn="just"/>
            <a:r>
              <a:rPr lang="vi-VN" sz="4000" b="1">
                <a:solidFill>
                  <a:schemeClr val="tx1"/>
                </a:solidFill>
                <a:latin typeface="+mj-lt"/>
              </a:rPr>
              <a:t>Thứ nhất: lấy lời lành mà khuyên người.</a:t>
            </a:r>
            <a:endParaRPr lang="en-US" sz="4000" b="1">
              <a:solidFill>
                <a:schemeClr val="tx1"/>
              </a:solidFill>
              <a:latin typeface="+mj-lt"/>
            </a:endParaRPr>
          </a:p>
          <a:p>
            <a:pPr algn="just"/>
            <a:r>
              <a:rPr lang="vi-VN" sz="4000" b="1">
                <a:solidFill>
                  <a:schemeClr val="tx1"/>
                </a:solidFill>
                <a:latin typeface="+mj-lt"/>
              </a:rPr>
              <a:t>Thứ hai: mở dậy kẻ mê muội.</a:t>
            </a:r>
            <a:endParaRPr lang="en-US" sz="4000" b="1">
              <a:solidFill>
                <a:schemeClr val="tx1"/>
              </a:solidFill>
              <a:latin typeface="+mj-lt"/>
            </a:endParaRPr>
          </a:p>
          <a:p>
            <a:pPr algn="just"/>
            <a:r>
              <a:rPr lang="vi-VN" sz="4000" b="1">
                <a:solidFill>
                  <a:schemeClr val="tx1"/>
                </a:solidFill>
                <a:latin typeface="+mj-lt"/>
              </a:rPr>
              <a:t>Thứ ba: yên ủi kẻ âu lo.</a:t>
            </a:r>
            <a:endParaRPr lang="en-US" sz="4000" b="1">
              <a:solidFill>
                <a:schemeClr val="tx1"/>
              </a:solidFill>
              <a:latin typeface="+mj-lt"/>
            </a:endParaRPr>
          </a:p>
          <a:p>
            <a:pPr algn="just"/>
            <a:r>
              <a:rPr lang="vi-VN" sz="4000" b="1">
                <a:solidFill>
                  <a:schemeClr val="tx1"/>
                </a:solidFill>
                <a:latin typeface="+mj-lt"/>
              </a:rPr>
              <a:t>Thứ bốn: răn bảo kẻ có tội.</a:t>
            </a:r>
            <a:endParaRPr lang="en-US" sz="4000" b="1">
              <a:solidFill>
                <a:schemeClr val="tx1"/>
              </a:solidFill>
              <a:latin typeface="+mj-lt"/>
            </a:endParaRPr>
          </a:p>
          <a:p>
            <a:pPr algn="just"/>
            <a:r>
              <a:rPr lang="vi-VN" sz="4000" b="1">
                <a:solidFill>
                  <a:schemeClr val="tx1"/>
                </a:solidFill>
                <a:latin typeface="+mj-lt"/>
              </a:rPr>
              <a:t>Thứ năm: tha kẻ dể ta.</a:t>
            </a:r>
            <a:endParaRPr lang="en-US" sz="4000" b="1">
              <a:solidFill>
                <a:schemeClr val="tx1"/>
              </a:solidFill>
              <a:latin typeface="+mj-lt"/>
            </a:endParaRPr>
          </a:p>
          <a:p>
            <a:pPr algn="just"/>
            <a:r>
              <a:rPr lang="vi-VN" sz="4000" b="1">
                <a:solidFill>
                  <a:schemeClr val="tx1"/>
                </a:solidFill>
                <a:latin typeface="+mj-lt"/>
              </a:rPr>
              <a:t>Thứ sáu: nhịn kẻ mất lòng ta.</a:t>
            </a:r>
            <a:endParaRPr lang="en-US" sz="4000" b="1">
              <a:solidFill>
                <a:schemeClr val="tx1"/>
              </a:solidFill>
              <a:latin typeface="+mj-lt"/>
            </a:endParaRPr>
          </a:p>
          <a:p>
            <a:pPr algn="just"/>
            <a:r>
              <a:rPr lang="vi-VN" sz="4000" b="1">
                <a:solidFill>
                  <a:schemeClr val="tx1"/>
                </a:solidFill>
                <a:latin typeface="+mj-lt"/>
              </a:rPr>
              <a:t>Thứ bảy: cầu cho kẻ sống và kẻ chết.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929598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3600" b="1" i="1" dirty="0">
                <a:solidFill>
                  <a:srgbClr val="FF0000"/>
                </a:solidFill>
                <a:latin typeface="Times New Roman" pitchFamily="18" charset="0"/>
                <a:cs typeface="Times New Roman" pitchFamily="18" charset="0"/>
              </a:rPr>
              <a:t>6.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Cải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Tội</a:t>
            </a:r>
            <a:r>
              <a:rPr lang="en-US" sz="3600" b="1" i="1" dirty="0">
                <a:solidFill>
                  <a:srgbClr val="FF0000"/>
                </a:solidFill>
                <a:latin typeface="Times New Roman" pitchFamily="18" charset="0"/>
                <a:cs typeface="Times New Roman" pitchFamily="18" charset="0"/>
              </a:rPr>
              <a:t> </a:t>
            </a:r>
            <a:r>
              <a:rPr lang="vi-VN" sz="3600" b="1" i="1" dirty="0">
                <a:solidFill>
                  <a:srgbClr val="FF0000"/>
                </a:solidFill>
                <a:latin typeface="Times New Roman" pitchFamily="18" charset="0"/>
                <a:cs typeface="Times New Roman" pitchFamily="18" charset="0"/>
              </a:rPr>
              <a:t>Bảy Mối</a:t>
            </a:r>
            <a:r>
              <a:rPr lang="en-US" sz="3600" b="1" i="1" dirty="0">
                <a:solidFill>
                  <a:srgbClr val="FF0000"/>
                </a:solidFill>
                <a:latin typeface="Times New Roman" pitchFamily="18" charset="0"/>
                <a:cs typeface="Times New Roman" pitchFamily="18" charset="0"/>
              </a:rPr>
              <a:t> </a:t>
            </a:r>
          </a:p>
          <a:p>
            <a:pPr algn="just"/>
            <a:r>
              <a:rPr lang="vi-VN" sz="4000" b="1" dirty="0">
                <a:solidFill>
                  <a:schemeClr val="tx1"/>
                </a:solidFill>
                <a:latin typeface="+mj-lt"/>
                <a:cs typeface="Times New Roman" pitchFamily="18" charset="0"/>
              </a:rPr>
              <a:t>Cải tội bảy mối có bảy đức:</a:t>
            </a:r>
          </a:p>
          <a:p>
            <a:pPr algn="just"/>
            <a:r>
              <a:rPr lang="vi-VN" sz="4000" b="1" dirty="0">
                <a:solidFill>
                  <a:schemeClr val="tx1"/>
                </a:solidFill>
                <a:latin typeface="+mj-lt"/>
                <a:cs typeface="Times New Roman" pitchFamily="18" charset="0"/>
              </a:rPr>
              <a:t>Thứ nhất: khiêm nhường, chớ kiêu ngạo.</a:t>
            </a:r>
          </a:p>
          <a:p>
            <a:pPr algn="just"/>
            <a:r>
              <a:rPr lang="vi-VN" sz="4000" b="1" dirty="0">
                <a:solidFill>
                  <a:schemeClr val="tx1"/>
                </a:solidFill>
                <a:latin typeface="+mj-lt"/>
                <a:cs typeface="Times New Roman" pitchFamily="18" charset="0"/>
              </a:rPr>
              <a:t>Thứ hai: rộng rãi, chớ hà tiện.</a:t>
            </a:r>
          </a:p>
          <a:p>
            <a:pPr algn="just"/>
            <a:r>
              <a:rPr lang="vi-VN" sz="4000" b="1" dirty="0">
                <a:solidFill>
                  <a:schemeClr val="tx1"/>
                </a:solidFill>
                <a:latin typeface="+mj-lt"/>
                <a:cs typeface="Times New Roman" pitchFamily="18" charset="0"/>
              </a:rPr>
              <a:t>Thứ ba: giữ mình sạch sẽ, chớ mê dâm dục.</a:t>
            </a:r>
          </a:p>
          <a:p>
            <a:pPr algn="just"/>
            <a:r>
              <a:rPr lang="vi-VN" sz="4000" b="1" dirty="0">
                <a:solidFill>
                  <a:schemeClr val="tx1"/>
                </a:solidFill>
                <a:latin typeface="+mj-lt"/>
                <a:cs typeface="Times New Roman" pitchFamily="18" charset="0"/>
              </a:rPr>
              <a:t>Thứ bốn: hay nhịn, chớ hờn giận.</a:t>
            </a:r>
          </a:p>
          <a:p>
            <a:pPr algn="just"/>
            <a:r>
              <a:rPr lang="vi-VN" sz="4000" b="1" dirty="0">
                <a:solidFill>
                  <a:schemeClr val="tx1"/>
                </a:solidFill>
                <a:latin typeface="+mj-lt"/>
                <a:cs typeface="Times New Roman" pitchFamily="18" charset="0"/>
              </a:rPr>
              <a:t>Thứ năm: kiêng bớt chớ mê ăn uống.</a:t>
            </a:r>
          </a:p>
          <a:p>
            <a:pPr algn="just"/>
            <a:r>
              <a:rPr lang="vi-VN" sz="4000" b="1" dirty="0">
                <a:solidFill>
                  <a:schemeClr val="tx1"/>
                </a:solidFill>
                <a:latin typeface="+mj-lt"/>
              </a:rPr>
              <a:t>Thứ sáu: yêu người chớ ghen ghét.</a:t>
            </a:r>
            <a:endParaRPr lang="en-US" sz="4000" b="1" dirty="0">
              <a:solidFill>
                <a:schemeClr val="tx1"/>
              </a:solidFill>
              <a:latin typeface="+mj-lt"/>
            </a:endParaRPr>
          </a:p>
          <a:p>
            <a:pPr algn="just"/>
            <a:endParaRPr lang="vi-VN"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41842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a:solidFill>
                  <a:schemeClr val="tx1"/>
                </a:solidFill>
                <a:latin typeface="+mj-lt"/>
              </a:rPr>
              <a:t>Thứ bảy: siêng năng việc</a:t>
            </a:r>
            <a:r>
              <a:rPr lang="en-US" sz="4000" b="1">
                <a:solidFill>
                  <a:schemeClr val="tx1"/>
                </a:solidFill>
                <a:latin typeface="+mj-lt"/>
              </a:rPr>
              <a:t> </a:t>
            </a:r>
            <a:r>
              <a:rPr lang="vi-VN" sz="4000" b="1">
                <a:solidFill>
                  <a:schemeClr val="tx1"/>
                </a:solidFill>
                <a:latin typeface="+mj-lt"/>
              </a:rPr>
              <a:t>Đức Chúa Trời, chớ làm biếng. </a:t>
            </a:r>
          </a:p>
          <a:p>
            <a:pPr algn="just"/>
            <a:endParaRPr lang="vi-VN" sz="4000" b="1">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39167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922" y="5687"/>
            <a:ext cx="9128078" cy="7010400"/>
          </a:xfrm>
        </p:spPr>
        <p:txBody>
          <a:bodyPr>
            <a:noAutofit/>
          </a:bodyPr>
          <a:lstStyle/>
          <a:p>
            <a:pPr algn="just"/>
            <a:r>
              <a:rPr lang="vi-VN" sz="3600" b="1" i="1">
                <a:solidFill>
                  <a:srgbClr val="FF0000"/>
                </a:solidFill>
                <a:latin typeface="+mj-lt"/>
                <a:cs typeface="Times New Roman" pitchFamily="18" charset="0"/>
              </a:rPr>
              <a:t>7. Kinh Tám Mối Phúc Thật:</a:t>
            </a:r>
          </a:p>
          <a:p>
            <a:pPr algn="just"/>
            <a:r>
              <a:rPr lang="vi-VN" sz="4000" b="1">
                <a:solidFill>
                  <a:schemeClr val="tx1"/>
                </a:solidFill>
                <a:latin typeface="+mj-lt"/>
              </a:rPr>
              <a:t>Phúc thật tám mối:</a:t>
            </a:r>
          </a:p>
          <a:p>
            <a:pPr algn="just"/>
            <a:r>
              <a:rPr lang="vi-VN" sz="4000" b="1">
                <a:solidFill>
                  <a:schemeClr val="tx1"/>
                </a:solidFill>
                <a:latin typeface="+mj-lt"/>
              </a:rPr>
              <a:t>Thứ nhất: ai có lòng khó khăn, ấy là phúc thật, vì chưng nước Đức Chúa Trời là của mình vậy.</a:t>
            </a:r>
          </a:p>
          <a:p>
            <a:pPr algn="just"/>
            <a:r>
              <a:rPr lang="vi-VN" sz="4000" b="1">
                <a:solidFill>
                  <a:schemeClr val="tx1"/>
                </a:solidFill>
                <a:latin typeface="+mj-lt"/>
              </a:rPr>
              <a:t>Thứ hai: ai hiền lành, ấy là phúc thật, vì chưng sẽ được đất Đức Chúa Trời làm của mình vậy. </a:t>
            </a:r>
          </a:p>
          <a:p>
            <a:pPr algn="just"/>
            <a:r>
              <a:rPr lang="vi-VN" sz="4000" b="1">
                <a:solidFill>
                  <a:schemeClr val="tx1"/>
                </a:solidFill>
                <a:latin typeface="+mj-lt"/>
              </a:rPr>
              <a:t>Thứ ba: ai khóc lóc, ấy là phúc thật, vì chưng sẽ được yên ủi vậy.</a:t>
            </a:r>
          </a:p>
          <a:p>
            <a:pPr algn="just"/>
            <a:endParaRPr lang="vi-VN" sz="4000" b="1">
              <a:solidFill>
                <a:schemeClr val="tx1"/>
              </a:solidFill>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358771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5687"/>
            <a:ext cx="9141725" cy="7010400"/>
          </a:xfrm>
        </p:spPr>
        <p:txBody>
          <a:bodyPr>
            <a:noAutofit/>
          </a:bodyPr>
          <a:lstStyle/>
          <a:p>
            <a:pPr algn="just"/>
            <a:r>
              <a:rPr lang="vi-VN" sz="4000" b="1" dirty="0">
                <a:solidFill>
                  <a:schemeClr val="tx1"/>
                </a:solidFill>
                <a:latin typeface="+mj-lt"/>
              </a:rPr>
              <a:t>Thứ bốn: ai khao khát nhân đức trọn lành, ấy là phúc thật, vì chưng sẽ được no đủ vậy.</a:t>
            </a:r>
          </a:p>
          <a:p>
            <a:pPr algn="just"/>
            <a:r>
              <a:rPr lang="vi-VN" sz="4000" b="1" dirty="0">
                <a:solidFill>
                  <a:schemeClr val="tx1"/>
                </a:solidFill>
                <a:latin typeface="+mj-lt"/>
              </a:rPr>
              <a:t>Thứ năm: ai thương xót người ấy là phúc thật, vì chưng mình sẽ được thương xót vậy.</a:t>
            </a:r>
          </a:p>
          <a:p>
            <a:pPr algn="just"/>
            <a:r>
              <a:rPr lang="vi-VN" sz="4000" b="1" dirty="0">
                <a:solidFill>
                  <a:schemeClr val="tx1"/>
                </a:solidFill>
                <a:latin typeface="+mj-lt"/>
              </a:rPr>
              <a:t>Thứ sáu: ai giữ lòng sạch sẽ ấy là phúc thật, vì chưng sẽ được thấy mặt Đức Chúa Trời vậy.</a:t>
            </a:r>
            <a:endParaRPr lang="en-US" sz="4000" b="1" dirty="0">
              <a:solidFill>
                <a:schemeClr val="tx1"/>
              </a:solidFill>
              <a:latin typeface="+mj-lt"/>
            </a:endParaRPr>
          </a:p>
          <a:p>
            <a:pPr algn="just"/>
            <a:r>
              <a:rPr lang="vi-VN" sz="4000" b="1" dirty="0">
                <a:solidFill>
                  <a:schemeClr val="tx1"/>
                </a:solidFill>
                <a:latin typeface="+mj-lt"/>
              </a:rPr>
              <a:t>Thứ bảy: ai làm cho người hòa thuận, ấy</a:t>
            </a:r>
          </a:p>
          <a:p>
            <a:pPr algn="just"/>
            <a:r>
              <a:rPr lang="vi-VN" sz="4000" b="1" dirty="0">
                <a:solidFill>
                  <a:schemeClr val="tx1"/>
                </a:solidFill>
                <a:latin typeface="+mj-lt"/>
              </a:rPr>
              <a:t>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600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dirty="0">
                <a:solidFill>
                  <a:schemeClr val="tx1"/>
                </a:solidFill>
                <a:latin typeface="+mj-lt"/>
              </a:rPr>
              <a:t>là phúc thật, vì chưng sẽ được gọi là con Đức Chúa Trời vậy.</a:t>
            </a:r>
            <a:endParaRPr lang="en-US" sz="4000" b="1" dirty="0">
              <a:solidFill>
                <a:schemeClr val="tx1"/>
              </a:solidFill>
              <a:latin typeface="+mj-lt"/>
            </a:endParaRPr>
          </a:p>
          <a:p>
            <a:pPr algn="just"/>
            <a:r>
              <a:rPr lang="vi-VN" sz="4000" b="1" dirty="0">
                <a:solidFill>
                  <a:schemeClr val="tx1"/>
                </a:solidFill>
                <a:latin typeface="+mj-lt"/>
              </a:rPr>
              <a:t>Thứ tám: ai chịu khốn </a:t>
            </a:r>
            <a:r>
              <a:rPr lang="en-US" sz="4000" b="1" dirty="0" err="1">
                <a:solidFill>
                  <a:schemeClr val="tx1"/>
                </a:solidFill>
                <a:latin typeface="+mj-lt"/>
                <a:cs typeface="Times New Roman" pitchFamily="18" charset="0"/>
              </a:rPr>
              <a:t>nạn</a:t>
            </a:r>
            <a:r>
              <a:rPr lang="vi-VN" sz="4000" b="1" dirty="0">
                <a:solidFill>
                  <a:schemeClr val="tx1"/>
                </a:solidFill>
                <a:latin typeface="+mj-lt"/>
              </a:rPr>
              <a:t> vì đạo ngay, ấy là phúc thật, vì chưng nước Đức Chúa Trời là của mình vậy.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2626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8130F-DA6D-4D19-B10C-D85018F22187}"/>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5B67FD08-5E99-410D-AAB1-55A312F1BB99}"/>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3807210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071806"/>
            <a:ext cx="9144000" cy="4219339"/>
          </a:xfrm>
        </p:spPr>
        <p:txBody>
          <a:bodyPr>
            <a:noAutofit/>
          </a:bodyPr>
          <a:lstStyle/>
          <a:p>
            <a:pPr algn="just"/>
            <a:r>
              <a:rPr lang="vi-VN" sz="5400" b="1" dirty="0">
                <a:latin typeface="+mj-lt"/>
              </a:rPr>
              <a:t>ĐK. Lạy Chúa bao ngày tháng con hằng mơ ước, tìm về bên Chúa nguồn vui suối an hòa.</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42431074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28775"/>
            <a:ext cx="9144000" cy="5105400"/>
          </a:xfrm>
        </p:spPr>
        <p:txBody>
          <a:bodyPr>
            <a:noAutofit/>
          </a:bodyPr>
          <a:lstStyle/>
          <a:p>
            <a:pPr algn="just"/>
            <a:r>
              <a:rPr lang="vi-VN" sz="5400" b="1" dirty="0">
                <a:latin typeface="+mj-lt"/>
              </a:rPr>
              <a:t>1. Nai rừng luôn khát khao, luôn khát khao dòng nước: ước mong về hằng ước mong về, về bên suối trong.</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25796286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9717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12545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76682"/>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TUNG HÔ TIN MỪNG</a:t>
            </a:r>
          </a:p>
          <a:p>
            <a:pPr algn="just"/>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do </a:t>
            </a:r>
            <a:r>
              <a:rPr lang="en-US" sz="5400" b="1" dirty="0" err="1">
                <a:latin typeface="Times New Roman" panose="02020603050405020304" pitchFamily="18" charset="0"/>
                <a:cs typeface="Times New Roman" panose="02020603050405020304" pitchFamily="18" charset="0"/>
              </a:rPr>
              <a:t>miệng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ra.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81887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 DÂNG LÊN (105)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95375"/>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Tựa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bay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la.</a:t>
            </a:r>
            <a:endParaRPr lang="vi-VN" sz="96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5061683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5775"/>
            <a:ext cx="9144000" cy="4471240"/>
          </a:xfrm>
        </p:spPr>
        <p:txBody>
          <a:bodyPr>
            <a:noAutofit/>
          </a:bodyPr>
          <a:lstStyle/>
          <a:p>
            <a:pPr algn="just"/>
            <a:r>
              <a:rPr lang="vi-VN" sz="5400" b="1" dirty="0">
                <a:latin typeface="+mj-lt"/>
              </a:rPr>
              <a:t>ĐK. Chúa ơi bao tháng năm rồi con vẫn u hoài ngước trông về Chúa. Chúa ơi con hướng lên Ngài chan chứa hy vọng vững tin muôn đời.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0856214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THÁNH CẢ GIUSE (493)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2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nay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giúp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92420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THÁNH CẢ GIUSE (493)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2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Giu</a:t>
            </a:r>
            <a:r>
              <a:rPr lang="en-US" sz="5400" b="1" dirty="0">
                <a:latin typeface="Times New Roman" panose="02020603050405020304" pitchFamily="18" charset="0"/>
                <a:cs typeface="Times New Roman" panose="02020603050405020304" pitchFamily="18" charset="0"/>
              </a:rPr>
              <a:t>-se,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ra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Giúp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bình</a:t>
            </a:r>
            <a:r>
              <a:rPr lang="en-US" sz="5400" b="1" dirty="0">
                <a:latin typeface="Times New Roman" panose="02020603050405020304" pitchFamily="18" charset="0"/>
                <a:cs typeface="Times New Roman" panose="02020603050405020304" pitchFamily="18" charset="0"/>
              </a:rPr>
              <a:t> an.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84301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CB70-9412-4FA5-B548-9ACE38048B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22416C-031B-489F-9936-9E1DE2B46B4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13376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071806"/>
            <a:ext cx="9144000" cy="4219339"/>
          </a:xfrm>
        </p:spPr>
        <p:txBody>
          <a:bodyPr>
            <a:noAutofit/>
          </a:bodyPr>
          <a:lstStyle/>
          <a:p>
            <a:pPr algn="just"/>
            <a:r>
              <a:rPr lang="vi-VN" sz="5400" b="1" dirty="0">
                <a:latin typeface="+mj-lt"/>
              </a:rPr>
              <a:t>ĐK. Lạy Chúa bao ngày tháng con hằng mơ ước, tìm về bên Chúa nguồn vui suối an hòa.</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39515391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28775"/>
            <a:ext cx="9144000" cy="5105400"/>
          </a:xfrm>
        </p:spPr>
        <p:txBody>
          <a:bodyPr>
            <a:noAutofit/>
          </a:bodyPr>
          <a:lstStyle/>
          <a:p>
            <a:pPr algn="just"/>
            <a:r>
              <a:rPr lang="vi-VN" sz="5400" b="1" dirty="0">
                <a:latin typeface="+mj-lt"/>
              </a:rPr>
              <a:t>1. Nai rừng luôn khát khao, luôn khát khao dòng nước: ước mong về hằng ước mong về, về bên suối trong.</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528324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071806"/>
            <a:ext cx="9144000" cy="4219339"/>
          </a:xfrm>
        </p:spPr>
        <p:txBody>
          <a:bodyPr>
            <a:noAutofit/>
          </a:bodyPr>
          <a:lstStyle/>
          <a:p>
            <a:pPr algn="just"/>
            <a:r>
              <a:rPr lang="vi-VN" sz="5400" b="1" dirty="0">
                <a:latin typeface="+mj-lt"/>
              </a:rPr>
              <a:t>ĐK. Lạy Chúa bao ngày tháng con hằng mơ ước, tìm về bên Chúa nguồn vui suối an hòa.</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65289145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28775"/>
            <a:ext cx="9144000" cy="5105400"/>
          </a:xfrm>
        </p:spPr>
        <p:txBody>
          <a:bodyPr>
            <a:noAutofit/>
          </a:bodyPr>
          <a:lstStyle/>
          <a:p>
            <a:pPr algn="just"/>
            <a:r>
              <a:rPr lang="vi-VN" sz="5400" b="1" dirty="0">
                <a:latin typeface="+mj-lt"/>
              </a:rPr>
              <a:t>2. Lữ hành nơi khách lưu, nơi khách lưu sầu nhớ: ước mong về hằng ước mong về, về quê dấu yêu.</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15985195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071806"/>
            <a:ext cx="9144000" cy="4219339"/>
          </a:xfrm>
        </p:spPr>
        <p:txBody>
          <a:bodyPr>
            <a:noAutofit/>
          </a:bodyPr>
          <a:lstStyle/>
          <a:p>
            <a:pPr algn="just"/>
            <a:r>
              <a:rPr lang="vi-VN" sz="5400" b="1" dirty="0">
                <a:latin typeface="+mj-lt"/>
              </a:rPr>
              <a:t>ĐK. Lạy Chúa bao ngày tháng con hằng mơ ước, tìm về bên Chúa nguồn vui suối an hòa.</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41108438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28775"/>
            <a:ext cx="9144000" cy="5105400"/>
          </a:xfrm>
        </p:spPr>
        <p:txBody>
          <a:bodyPr>
            <a:noAutofit/>
          </a:bodyPr>
          <a:lstStyle/>
          <a:p>
            <a:pPr algn="just"/>
            <a:r>
              <a:rPr lang="vi-VN" sz="5400" b="1" dirty="0">
                <a:latin typeface="+mj-lt"/>
              </a:rPr>
              <a:t>3. Chim đàn tung cánh bay, tung cánh bay ngàn hướng: ước mong về hằng ước mong về, về tổ ấm êm.</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75192456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LẠY CHÚA BAO THÁNG NGÀY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071806"/>
            <a:ext cx="9144000" cy="4219339"/>
          </a:xfrm>
        </p:spPr>
        <p:txBody>
          <a:bodyPr>
            <a:noAutofit/>
          </a:bodyPr>
          <a:lstStyle/>
          <a:p>
            <a:pPr algn="just"/>
            <a:r>
              <a:rPr lang="vi-VN" sz="5400" b="1" dirty="0">
                <a:latin typeface="+mj-lt"/>
              </a:rPr>
              <a:t>ĐK. Lạy Chúa bao ngày tháng con hằng mơ ước, tìm về bên Chúa nguồn vui suối an hòa.</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14916740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9717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76682"/>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TUNG HÔ TIN MỪNG</a:t>
            </a:r>
          </a:p>
          <a:p>
            <a:pPr algn="just"/>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do </a:t>
            </a:r>
            <a:r>
              <a:rPr lang="en-US" sz="5400" b="1" dirty="0" err="1">
                <a:latin typeface="Times New Roman" panose="02020603050405020304" pitchFamily="18" charset="0"/>
                <a:cs typeface="Times New Roman" panose="02020603050405020304" pitchFamily="18" charset="0"/>
              </a:rPr>
              <a:t>miệng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ra.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 DÂNG LÊN (105)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95375"/>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1. </a:t>
            </a:r>
            <a:r>
              <a:rPr lang="en-US" sz="5400" b="1" dirty="0" err="1">
                <a:solidFill>
                  <a:schemeClr val="tx1"/>
                </a:solidFill>
                <a:latin typeface="Times New Roman" panose="02020603050405020304" pitchFamily="18" charset="0"/>
                <a:cs typeface="Times New Roman" panose="02020603050405020304" pitchFamily="18" charset="0"/>
              </a:rPr>
              <a:t>Tiến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thiên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cung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lễ</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vật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con.</a:t>
            </a:r>
            <a:endParaRPr lang="vi-VN" sz="96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6210362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 DÂNG LÊN (105)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95375"/>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Tựa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bay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la.</a:t>
            </a:r>
            <a:endParaRPr lang="vi-VN" sz="96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8258294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1346"/>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Con Ta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6295"/>
            <a:ext cx="9144000" cy="5410200"/>
          </a:xfrm>
        </p:spPr>
        <p:txBody>
          <a:bodyPr>
            <a:noAutofit/>
          </a:bodyPr>
          <a:lstStyle/>
          <a:p>
            <a:pPr algn="just"/>
            <a:r>
              <a:rPr lang="vi-VN" sz="5400" b="1" dirty="0">
                <a:latin typeface="+mj-lt"/>
              </a:rPr>
              <a:t>1. Này linh hồn con, nguyện hướng về Chúa tâm tư khấn xin từ đây, Chúa đừng để con Đắng cay bao giờ. Vì ai cậy Chúa và tin ở Chúa, tâm tư chứa chan niềm vui, chẳng khi nào ngơi tiếng ca tuyệt vời.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8752824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5775"/>
            <a:ext cx="9144000" cy="4471240"/>
          </a:xfrm>
        </p:spPr>
        <p:txBody>
          <a:bodyPr>
            <a:noAutofit/>
          </a:bodyPr>
          <a:lstStyle/>
          <a:p>
            <a:pPr algn="just"/>
            <a:r>
              <a:rPr lang="vi-VN" sz="5400" b="1" dirty="0">
                <a:latin typeface="+mj-lt"/>
              </a:rPr>
              <a:t>ĐK. Chúa ơi bao tháng năm rồi con vẫn u hoài ngước trông về Chúa. Chúa ơi con hướng lên Ngài chan chứa hy vọng vững tin muôn đời.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1406864"/>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2. Đời con tội lỗi, tuổi xuân lầm lỡ, xin thương thứ tha Ngài ơi đoái trông hồn con tháng năm dại khờ.</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8998090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Đường ngay nẻo chính, Ngài đã dạy con đi theo bước chân tình yêu ngước trông trời cao chứa chan ngọt ngào.</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2306216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5775"/>
            <a:ext cx="9144000" cy="4471240"/>
          </a:xfrm>
        </p:spPr>
        <p:txBody>
          <a:bodyPr>
            <a:noAutofit/>
          </a:bodyPr>
          <a:lstStyle/>
          <a:p>
            <a:pPr algn="just"/>
            <a:r>
              <a:rPr lang="vi-VN" sz="5400" b="1" dirty="0">
                <a:latin typeface="+mj-lt"/>
              </a:rPr>
              <a:t>ĐK. Chúa ơi bao tháng năm rồi con vẫn u hoài ngước trông về Chúa. Chúa ơi con hướng lên Ngài chan chứa hy vọng vững tin muôn đời.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3153116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3. Ngày đêm tìm Chúa, dù chưa được thấy, nhưng con vẫn luôn cậy trông thấy tim nhẹ vương biết bao yêu thương. </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809847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Đời đi tìm Chúa, lòng như bừng nở trăm hoa ngát hương trời mơ, thấy như lòng con mến thương nhiều hơn.</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91668203"/>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5775"/>
            <a:ext cx="9144000" cy="4471240"/>
          </a:xfrm>
        </p:spPr>
        <p:txBody>
          <a:bodyPr>
            <a:noAutofit/>
          </a:bodyPr>
          <a:lstStyle/>
          <a:p>
            <a:pPr algn="just"/>
            <a:r>
              <a:rPr lang="vi-VN" sz="5400" b="1" dirty="0">
                <a:latin typeface="+mj-lt"/>
              </a:rPr>
              <a:t>ĐK. Chúa ơi bao tháng năm rồi con vẫn u hoài ngước trông về Chúa. Chúa ơi con hướng lên Ngài chan chứa hy vọng vững tin muôn đời.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317929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4. Nhờ ân tình Chúa mà con được sống. Tim con hiến dâng từ đây vững tâm ngày mai bước trên đường dài.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8317562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9013"/>
            <a:ext cx="9144000" cy="4064764"/>
          </a:xfrm>
        </p:spPr>
        <p:txBody>
          <a:bodyPr>
            <a:noAutofit/>
          </a:bodyPr>
          <a:lstStyle/>
          <a:p>
            <a:pPr algn="just"/>
            <a:r>
              <a:rPr lang="vi-VN" sz="5400" b="1" dirty="0">
                <a:latin typeface="+mj-lt"/>
              </a:rPr>
              <a:t>Lời Chúa gọi con, Lời trao hồng ân tin yêu đến trong trần gian, đến nay đời con sống trong bình an.</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2764693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5775"/>
            <a:ext cx="9144000" cy="4471240"/>
          </a:xfrm>
        </p:spPr>
        <p:txBody>
          <a:bodyPr>
            <a:noAutofit/>
          </a:bodyPr>
          <a:lstStyle/>
          <a:p>
            <a:pPr algn="just"/>
            <a:r>
              <a:rPr lang="vi-VN" sz="5400" b="1" dirty="0">
                <a:latin typeface="+mj-lt"/>
              </a:rPr>
              <a:t>ĐK. Chúa ơi bao tháng năm rồi con vẫn u hoài ngước trông về Chúa. Chúa ơi con hướng lên Ngài chan chứa hy vọng vững tin muôn đời.</a:t>
            </a:r>
            <a:endParaRPr lang="en-US" sz="5400" b="1" i="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DÙ CON CHƯA THẤY NGÀI (548)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2209222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THÁNH CẢ GIUSE (493)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2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nay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giúp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001723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THÁNH CẢ GIUSE (493)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2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Giu</a:t>
            </a:r>
            <a:r>
              <a:rPr lang="en-US" sz="5400" b="1" dirty="0">
                <a:latin typeface="Times New Roman" panose="02020603050405020304" pitchFamily="18" charset="0"/>
                <a:cs typeface="Times New Roman" panose="02020603050405020304" pitchFamily="18" charset="0"/>
              </a:rPr>
              <a:t>-se,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ra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Giúp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bình</a:t>
            </a:r>
            <a:r>
              <a:rPr lang="en-US" sz="5400" b="1" dirty="0">
                <a:latin typeface="Times New Roman" panose="02020603050405020304" pitchFamily="18" charset="0"/>
                <a:cs typeface="Times New Roman" panose="02020603050405020304" pitchFamily="18" charset="0"/>
              </a:rPr>
              <a:t> an.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5373375"/>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5685</TotalTime>
  <Words>2809</Words>
  <Application>Microsoft Office PowerPoint</Application>
  <PresentationFormat>On-screen Show (4:3)</PresentationFormat>
  <Paragraphs>169</Paragraphs>
  <Slides>62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LẠY CHÚA BAO THÁNG NGÀY (KL)</vt:lpstr>
      <vt:lpstr>Nhập Lễ                              LẠY CHÚA BAO THÁNG NGÀY (KL)</vt:lpstr>
      <vt:lpstr>PowerPoint Presentation</vt:lpstr>
      <vt:lpstr>PowerPoint Presentation</vt:lpstr>
      <vt:lpstr>Dâng Lễ                                  TIẾN DÂNG LÊN (105)</vt:lpstr>
      <vt:lpstr>Hiệp Lễ                            DÙ CON CHƯA THẤY NGÀI (548)</vt:lpstr>
      <vt:lpstr>Kết lễ                                         THÁNH CẢ GIUSE (493)</vt:lpstr>
      <vt:lpstr>Kết lễ                                         THÁNH CẢ GIUSE (493)</vt:lpstr>
      <vt:lpstr>PowerPoint Presentation</vt:lpstr>
      <vt:lpstr>Nhập Lễ                              LẠY CHÚA BAO THÁNG NGÀY (KL)</vt:lpstr>
      <vt:lpstr>Nhập Lễ                              LẠY CHÚA BAO THÁNG NGÀY (KL)</vt:lpstr>
      <vt:lpstr>Nhập Lễ                              LẠY CHÚA BAO THÁNG NGÀY (KL)</vt:lpstr>
      <vt:lpstr>Nhập Lễ                              LẠY CHÚA BAO THÁNG NGÀY (KL)</vt:lpstr>
      <vt:lpstr>Nhập Lễ                              LẠY CHÚA BAO THÁNG NGÀY (KL)</vt:lpstr>
      <vt:lpstr>Nhập Lễ                              LẠY CHÚA BAO THÁNG NGÀY (KL)</vt:lpstr>
      <vt:lpstr>Nhập Lễ                              LẠY CHÚA BAO THÁNG NGÀY (KL)</vt:lpstr>
      <vt:lpstr>PowerPoint Presentation</vt:lpstr>
      <vt:lpstr>PowerPoint Presentation</vt:lpstr>
      <vt:lpstr>Dâng Lễ                                  TIẾN DÂNG LÊN (105)</vt:lpstr>
      <vt:lpstr>Dâng Lễ                                  TIẾN DÂNG LÊN (105)</vt:lpstr>
      <vt:lpstr>CA HIỆP LỄ</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Hiệp Lễ                            DÙ CON CHƯA THẤY NGÀI (548)</vt:lpstr>
      <vt:lpstr>Kết lễ                                         THÁNH CẢ GIUSE (493)</vt:lpstr>
      <vt:lpstr>Kết lễ                                         THÁNH CẢ GIUSE (493)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1446</cp:revision>
  <dcterms:created xsi:type="dcterms:W3CDTF">2018-09-17T12:52:44Z</dcterms:created>
  <dcterms:modified xsi:type="dcterms:W3CDTF">2021-03-07T11:45:44Z</dcterms:modified>
</cp:coreProperties>
</file>